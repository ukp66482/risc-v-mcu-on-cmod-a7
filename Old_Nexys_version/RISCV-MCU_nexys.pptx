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  <p:sldId id="269" r:id="rId9"/>
    <p:sldId id="262" r:id="rId10"/>
    <p:sldId id="265" r:id="rId11"/>
    <p:sldId id="266" r:id="rId12"/>
    <p:sldId id="267" r:id="rId13"/>
    <p:sldId id="268" r:id="rId14"/>
    <p:sldId id="270" r:id="rId15"/>
    <p:sldId id="272" r:id="rId16"/>
    <p:sldId id="271" r:id="rId17"/>
    <p:sldId id="273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h79D6qY55gcc+eMMalUfrJi1Lm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老師，各位同學好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569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2332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6" descr="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28800"/>
            <a:ext cx="12192000" cy="2557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6" descr="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24000"/>
            <a:ext cx="12192000" cy="80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6"/>
          <p:cNvSpPr txBox="1">
            <a:spLocks noGrp="1"/>
          </p:cNvSpPr>
          <p:nvPr>
            <p:ph type="subTitle" idx="1"/>
          </p:nvPr>
        </p:nvSpPr>
        <p:spPr>
          <a:xfrm>
            <a:off x="1828800" y="47244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1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ctrTitle"/>
          </p:nvPr>
        </p:nvSpPr>
        <p:spPr>
          <a:xfrm>
            <a:off x="3454400" y="2209800"/>
            <a:ext cx="8534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dt" idx="10"/>
          </p:nvPr>
        </p:nvSpPr>
        <p:spPr>
          <a:xfrm>
            <a:off x="0" y="64008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ftr" idx="11"/>
          </p:nvPr>
        </p:nvSpPr>
        <p:spPr>
          <a:xfrm>
            <a:off x="4165600" y="64008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1"/>
          </p:nvPr>
        </p:nvSpPr>
        <p:spPr>
          <a:xfrm>
            <a:off x="334434" y="1482725"/>
            <a:ext cx="5706533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2"/>
          </p:nvPr>
        </p:nvSpPr>
        <p:spPr>
          <a:xfrm>
            <a:off x="6244167" y="1482725"/>
            <a:ext cx="5706533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1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3586163" y="-1768474"/>
            <a:ext cx="5113338" cy="1161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>
            <a:spLocks noGrp="1"/>
          </p:cNvSpPr>
          <p:nvPr>
            <p:ph type="title"/>
          </p:nvPr>
        </p:nvSpPr>
        <p:spPr>
          <a:xfrm rot="5400000">
            <a:off x="7234502" y="1841766"/>
            <a:ext cx="6596063" cy="2912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 rot="5400000">
            <a:off x="1305719" y="-971284"/>
            <a:ext cx="6596063" cy="85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400" b="1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5" descr="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152241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5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rgbClr val="DDDDDD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body" idx="1"/>
          </p:nvPr>
        </p:nvSpPr>
        <p:spPr>
          <a:xfrm>
            <a:off x="334963" y="1482725"/>
            <a:ext cx="11615737" cy="5113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dt" idx="10"/>
          </p:nvPr>
        </p:nvSpPr>
        <p:spPr>
          <a:xfrm>
            <a:off x="1016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ftr" idx="11"/>
          </p:nvPr>
        </p:nvSpPr>
        <p:spPr>
          <a:xfrm>
            <a:off x="4267200" y="6597650"/>
            <a:ext cx="38608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ldNum" idx="12"/>
          </p:nvPr>
        </p:nvSpPr>
        <p:spPr>
          <a:xfrm>
            <a:off x="9550400" y="6597650"/>
            <a:ext cx="2540000" cy="26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rgbClr val="0033CC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3866128" y="2627541"/>
            <a:ext cx="5604387" cy="160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 altLang="zh-TW" sz="4000" dirty="0">
                <a:solidFill>
                  <a:schemeClr val="bg1"/>
                </a:solidFill>
                <a:latin typeface="+mj-lt"/>
              </a:rPr>
              <a:t>RISC-V Microcontroller</a:t>
            </a:r>
            <a:endParaRPr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F674D8C-94E0-5BA8-C37C-3831E2CC29CE}"/>
              </a:ext>
            </a:extLst>
          </p:cNvPr>
          <p:cNvSpPr txBox="1"/>
          <p:nvPr/>
        </p:nvSpPr>
        <p:spPr>
          <a:xfrm>
            <a:off x="7886700" y="6263641"/>
            <a:ext cx="4122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Developed by Wei-Feng Huang, DICLAB, NCKU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1016000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Microcontroller Selection</a:t>
            </a:r>
            <a:endParaRPr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F9B994-D96B-2BF3-910D-86264B8B4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400" dirty="0"/>
              <a:t>E203</a:t>
            </a:r>
          </a:p>
          <a:p>
            <a:pPr lvl="1"/>
            <a:r>
              <a:rPr lang="en-US" altLang="zh-TW" sz="2000" dirty="0"/>
              <a:t>RV32IM ISA with interrupt and exception support</a:t>
            </a:r>
          </a:p>
          <a:p>
            <a:pPr lvl="1"/>
            <a:r>
              <a:rPr lang="en-US" sz="2000" dirty="0"/>
              <a:t>Developed by Nuclei System Technology (China) </a:t>
            </a:r>
          </a:p>
          <a:p>
            <a:pPr lvl="1"/>
            <a:r>
              <a:rPr lang="en-US" sz="2000" dirty="0"/>
              <a:t>FreeRTOS support available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MicroBlaze V</a:t>
            </a:r>
          </a:p>
          <a:p>
            <a:pPr lvl="1"/>
            <a:r>
              <a:rPr lang="en-US" altLang="zh-TW" sz="2000" dirty="0">
                <a:solidFill>
                  <a:schemeClr val="tx1"/>
                </a:solidFill>
              </a:rPr>
              <a:t>Xilinx</a:t>
            </a:r>
          </a:p>
          <a:p>
            <a:pPr lvl="1"/>
            <a:r>
              <a:rPr lang="en-US" altLang="zh-TW" sz="2000" dirty="0">
                <a:solidFill>
                  <a:schemeClr val="tx1"/>
                </a:solidFill>
              </a:rPr>
              <a:t>Configurable ISA with interrupt and exception support</a:t>
            </a:r>
          </a:p>
          <a:p>
            <a:pPr lvl="1"/>
            <a:r>
              <a:rPr lang="en-US" altLang="zh-TW" sz="2000" dirty="0">
                <a:solidFill>
                  <a:schemeClr val="tx1"/>
                </a:solidFill>
              </a:rPr>
              <a:t>JTAG support available</a:t>
            </a:r>
          </a:p>
          <a:p>
            <a:pPr lvl="1"/>
            <a:r>
              <a:rPr lang="en-US" altLang="zh-TW" sz="2000" dirty="0">
                <a:solidFill>
                  <a:schemeClr val="tx1"/>
                </a:solidFill>
              </a:rPr>
              <a:t>FreeRTOS support planned for 2026</a:t>
            </a:r>
          </a:p>
          <a:p>
            <a:pPr lvl="1"/>
            <a:r>
              <a:rPr lang="en-US" sz="2000" dirty="0"/>
              <a:t>Strong toolchain support (</a:t>
            </a:r>
            <a:r>
              <a:rPr lang="en-US" sz="2000" dirty="0">
                <a:solidFill>
                  <a:srgbClr val="FF0000"/>
                </a:solidFill>
              </a:rPr>
              <a:t>Vivado/Vitis </a:t>
            </a:r>
            <a:r>
              <a:rPr lang="en-US" sz="2000" dirty="0"/>
              <a:t>integration, beginner-friendly)</a:t>
            </a:r>
            <a:endParaRPr lang="en-US" altLang="zh-TW" sz="2000" dirty="0">
              <a:solidFill>
                <a:schemeClr val="tx1"/>
              </a:solidFill>
            </a:endParaRPr>
          </a:p>
          <a:p>
            <a:r>
              <a:rPr lang="en-US" altLang="zh-TW" sz="2400" dirty="0"/>
              <a:t>DICLAB’s</a:t>
            </a:r>
            <a:r>
              <a:rPr lang="zh-TW" altLang="en-US" sz="2400" dirty="0"/>
              <a:t> </a:t>
            </a:r>
            <a:r>
              <a:rPr lang="en-US" altLang="zh-TW" sz="2400" dirty="0"/>
              <a:t>CPU (developing)</a:t>
            </a:r>
          </a:p>
          <a:p>
            <a:pPr lvl="1"/>
            <a:r>
              <a:rPr lang="en-US" altLang="zh-TW" sz="2000" dirty="0"/>
              <a:t>RV32IMB ISA with interrupt and exception support</a:t>
            </a:r>
          </a:p>
          <a:p>
            <a:pPr lvl="1"/>
            <a:r>
              <a:rPr lang="en-US" sz="2000" dirty="0"/>
              <a:t>FreeRTOS support targeted</a:t>
            </a:r>
            <a:endParaRPr lang="en-US" altLang="zh-TW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633E21-2194-1082-D942-253A6BA68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MicroBlaze V high-end Peripheral</a:t>
            </a:r>
          </a:p>
        </p:txBody>
      </p:sp>
      <p:pic>
        <p:nvPicPr>
          <p:cNvPr id="7" name="圖片 6" descr="一張含有 文字, 螢幕擷取畫面, 字型, 代數 的圖片&#10;&#10;AI 產生的內容可能不正確。">
            <a:extLst>
              <a:ext uri="{FF2B5EF4-FFF2-40B4-BE49-F238E27FC236}">
                <a16:creationId xmlns:a16="http://schemas.microsoft.com/office/drawing/2014/main" id="{D5FF3D6F-04C5-347A-5547-19218A00C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0" y="1848415"/>
            <a:ext cx="9670273" cy="161385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165FD27-D823-3345-BBC7-513475DE5C09}"/>
              </a:ext>
            </a:extLst>
          </p:cNvPr>
          <p:cNvSpPr txBox="1"/>
          <p:nvPr/>
        </p:nvSpPr>
        <p:spPr>
          <a:xfrm>
            <a:off x="1016000" y="3920736"/>
            <a:ext cx="5554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External I/O is FPGA-configurable via GPIO ports.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Onboard switches/LEDs/buttons are also supported.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right figure shows a Xilinx MicroBlaze V microcontroller reference design example.</a:t>
            </a:r>
          </a:p>
        </p:txBody>
      </p:sp>
      <p:pic>
        <p:nvPicPr>
          <p:cNvPr id="11" name="圖片 10" descr="一張含有 文字, 螢幕擷取畫面, 字型, 陳列 的圖片&#10;&#10;AI 產生的內容可能不正確。">
            <a:extLst>
              <a:ext uri="{FF2B5EF4-FFF2-40B4-BE49-F238E27FC236}">
                <a16:creationId xmlns:a16="http://schemas.microsoft.com/office/drawing/2014/main" id="{D3909E95-C717-0475-79F8-FB1E0961A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35" y="3287684"/>
            <a:ext cx="516681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13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3745EE-A436-FF98-2F44-B065A213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Microcontroller (temporary)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85C7B62-6329-C9B1-25CD-E00F833E3AE0}"/>
              </a:ext>
            </a:extLst>
          </p:cNvPr>
          <p:cNvSpPr/>
          <p:nvPr/>
        </p:nvSpPr>
        <p:spPr>
          <a:xfrm>
            <a:off x="3482172" y="2809022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MicroBlaze V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FE4EB2C-6F32-5EDD-ABC9-F1965E7E7B37}"/>
              </a:ext>
            </a:extLst>
          </p:cNvPr>
          <p:cNvSpPr/>
          <p:nvPr/>
        </p:nvSpPr>
        <p:spPr>
          <a:xfrm>
            <a:off x="1856207" y="2809022"/>
            <a:ext cx="1064607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Debug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Module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43E5CC5-A9BC-B91D-688D-6E61C894FEFA}"/>
              </a:ext>
            </a:extLst>
          </p:cNvPr>
          <p:cNvSpPr/>
          <p:nvPr/>
        </p:nvSpPr>
        <p:spPr>
          <a:xfrm>
            <a:off x="7237351" y="2783008"/>
            <a:ext cx="3493139" cy="81243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AXI GPIO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ED9499C-3309-A8C0-31A2-73D14FE8C73C}"/>
              </a:ext>
            </a:extLst>
          </p:cNvPr>
          <p:cNvSpPr/>
          <p:nvPr/>
        </p:nvSpPr>
        <p:spPr>
          <a:xfrm>
            <a:off x="7513642" y="5087345"/>
            <a:ext cx="1210429" cy="10459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AXI Timer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BD1DFF2-D1FA-F884-844B-0B5DE7EB0C68}"/>
              </a:ext>
            </a:extLst>
          </p:cNvPr>
          <p:cNvSpPr/>
          <p:nvPr/>
        </p:nvSpPr>
        <p:spPr>
          <a:xfrm>
            <a:off x="2732231" y="5090636"/>
            <a:ext cx="1311298" cy="891924"/>
          </a:xfrm>
          <a:prstGeom prst="round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AXI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Interrupt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Controller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F109A68-D226-70F4-9988-D2050EAA0933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2920814" y="3216884"/>
            <a:ext cx="5613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82BE7811-CF48-DED1-C44D-6EF6DB18CE7B}"/>
              </a:ext>
            </a:extLst>
          </p:cNvPr>
          <p:cNvSpPr/>
          <p:nvPr/>
        </p:nvSpPr>
        <p:spPr>
          <a:xfrm>
            <a:off x="1155605" y="4228316"/>
            <a:ext cx="10387320" cy="2554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AXI Interconnect (BUS)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E33B296B-C482-A203-6968-0097D03CACAC}"/>
              </a:ext>
            </a:extLst>
          </p:cNvPr>
          <p:cNvCxnSpPr/>
          <p:nvPr/>
        </p:nvCxnSpPr>
        <p:spPr>
          <a:xfrm flipV="1">
            <a:off x="7744986" y="2241930"/>
            <a:ext cx="0" cy="54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15A07139-77E1-3FDC-3F71-992FFC62810E}"/>
              </a:ext>
            </a:extLst>
          </p:cNvPr>
          <p:cNvCxnSpPr/>
          <p:nvPr/>
        </p:nvCxnSpPr>
        <p:spPr>
          <a:xfrm flipV="1">
            <a:off x="9547473" y="2241931"/>
            <a:ext cx="0" cy="54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B28C28EA-5125-BB6E-A287-499502AA3770}"/>
              </a:ext>
            </a:extLst>
          </p:cNvPr>
          <p:cNvCxnSpPr/>
          <p:nvPr/>
        </p:nvCxnSpPr>
        <p:spPr>
          <a:xfrm flipV="1">
            <a:off x="10212988" y="2241930"/>
            <a:ext cx="0" cy="54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262009C-D143-366F-CE05-16AAC7F9FE76}"/>
              </a:ext>
            </a:extLst>
          </p:cNvPr>
          <p:cNvCxnSpPr/>
          <p:nvPr/>
        </p:nvCxnSpPr>
        <p:spPr>
          <a:xfrm flipV="1">
            <a:off x="8520143" y="2241931"/>
            <a:ext cx="0" cy="541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609659B6-FFD0-E969-AEA4-16C7BFC4AA75}"/>
              </a:ext>
            </a:extLst>
          </p:cNvPr>
          <p:cNvSpPr/>
          <p:nvPr/>
        </p:nvSpPr>
        <p:spPr>
          <a:xfrm>
            <a:off x="4043530" y="3702042"/>
            <a:ext cx="249980" cy="48022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204A6E49-5B29-DF04-6C18-959A20EB686D}"/>
              </a:ext>
            </a:extLst>
          </p:cNvPr>
          <p:cNvSpPr/>
          <p:nvPr/>
        </p:nvSpPr>
        <p:spPr>
          <a:xfrm rot="10800000">
            <a:off x="3262891" y="4529824"/>
            <a:ext cx="249980" cy="48022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0A625416-BAAC-A7F1-E4AB-F87931B5B890}"/>
              </a:ext>
            </a:extLst>
          </p:cNvPr>
          <p:cNvSpPr/>
          <p:nvPr/>
        </p:nvSpPr>
        <p:spPr>
          <a:xfrm rot="10800000">
            <a:off x="7993868" y="4550927"/>
            <a:ext cx="249980" cy="48022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9BC82BF4-9B2B-B57C-CB51-DFFBFAB739F7}"/>
              </a:ext>
            </a:extLst>
          </p:cNvPr>
          <p:cNvSpPr/>
          <p:nvPr/>
        </p:nvSpPr>
        <p:spPr>
          <a:xfrm>
            <a:off x="8858930" y="3676027"/>
            <a:ext cx="249980" cy="48022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E3F04043-FA27-A0F3-8895-F013D717EB3B}"/>
              </a:ext>
            </a:extLst>
          </p:cNvPr>
          <p:cNvSpPr txBox="1"/>
          <p:nvPr/>
        </p:nvSpPr>
        <p:spPr>
          <a:xfrm>
            <a:off x="7279016" y="1888103"/>
            <a:ext cx="3659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Switch / PWM / LED / RGB LED / Button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A34A73F5-581F-FA6C-9B0E-1FEE429831C4}"/>
              </a:ext>
            </a:extLst>
          </p:cNvPr>
          <p:cNvSpPr/>
          <p:nvPr/>
        </p:nvSpPr>
        <p:spPr>
          <a:xfrm>
            <a:off x="5148155" y="5087345"/>
            <a:ext cx="1210429" cy="104596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AXI UART</a:t>
            </a:r>
          </a:p>
        </p:txBody>
      </p:sp>
      <p:sp>
        <p:nvSpPr>
          <p:cNvPr id="25" name="箭號: 向下 24">
            <a:extLst>
              <a:ext uri="{FF2B5EF4-FFF2-40B4-BE49-F238E27FC236}">
                <a16:creationId xmlns:a16="http://schemas.microsoft.com/office/drawing/2014/main" id="{35D95702-02FE-0003-3ED9-E3FB52C38D5D}"/>
              </a:ext>
            </a:extLst>
          </p:cNvPr>
          <p:cNvSpPr/>
          <p:nvPr/>
        </p:nvSpPr>
        <p:spPr>
          <a:xfrm rot="10800000">
            <a:off x="5628379" y="4550927"/>
            <a:ext cx="249980" cy="480225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45311304-8225-5F4D-4B5F-55414CE6E2B5}"/>
              </a:ext>
            </a:extLst>
          </p:cNvPr>
          <p:cNvCxnSpPr>
            <a:cxnSpLocks/>
          </p:cNvCxnSpPr>
          <p:nvPr/>
        </p:nvCxnSpPr>
        <p:spPr>
          <a:xfrm>
            <a:off x="5753368" y="6151404"/>
            <a:ext cx="0" cy="257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55B224B-2A37-C561-AE15-5550BC170FB6}"/>
              </a:ext>
            </a:extLst>
          </p:cNvPr>
          <p:cNvSpPr txBox="1"/>
          <p:nvPr/>
        </p:nvSpPr>
        <p:spPr>
          <a:xfrm>
            <a:off x="485704" y="3129725"/>
            <a:ext cx="647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JTAG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8D7311C9-F3A0-8A01-29C9-94432F1FB431}"/>
              </a:ext>
            </a:extLst>
          </p:cNvPr>
          <p:cNvCxnSpPr>
            <a:cxnSpLocks/>
          </p:cNvCxnSpPr>
          <p:nvPr/>
        </p:nvCxnSpPr>
        <p:spPr>
          <a:xfrm flipV="1">
            <a:off x="1208232" y="3129725"/>
            <a:ext cx="647975" cy="73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5F4BFBF-17D6-256F-B3D3-EEE8855AA709}"/>
              </a:ext>
            </a:extLst>
          </p:cNvPr>
          <p:cNvCxnSpPr>
            <a:cxnSpLocks/>
          </p:cNvCxnSpPr>
          <p:nvPr/>
        </p:nvCxnSpPr>
        <p:spPr>
          <a:xfrm flipH="1">
            <a:off x="1208232" y="3345168"/>
            <a:ext cx="6479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B09EFD2-7BB4-6F78-DFF6-BC7C09428951}"/>
              </a:ext>
            </a:extLst>
          </p:cNvPr>
          <p:cNvSpPr txBox="1"/>
          <p:nvPr/>
        </p:nvSpPr>
        <p:spPr>
          <a:xfrm>
            <a:off x="5168989" y="6426511"/>
            <a:ext cx="1210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USB UART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E226F808-7AF8-1936-C7CA-1EBA4990B825}"/>
              </a:ext>
            </a:extLst>
          </p:cNvPr>
          <p:cNvSpPr/>
          <p:nvPr/>
        </p:nvSpPr>
        <p:spPr>
          <a:xfrm>
            <a:off x="3482172" y="1663399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 Memory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Bus</a:t>
            </a:r>
          </a:p>
        </p:txBody>
      </p: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D373C7AC-451A-FB65-879E-E2FB4B82F488}"/>
              </a:ext>
            </a:extLst>
          </p:cNvPr>
          <p:cNvCxnSpPr>
            <a:cxnSpLocks/>
            <a:stCxn id="41" idx="2"/>
            <a:endCxn id="4" idx="0"/>
          </p:cNvCxnSpPr>
          <p:nvPr/>
        </p:nvCxnSpPr>
        <p:spPr>
          <a:xfrm>
            <a:off x="4241979" y="2479123"/>
            <a:ext cx="0" cy="329899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FEFD39D8-41A7-DE50-4469-3224D98E78CC}"/>
              </a:ext>
            </a:extLst>
          </p:cNvPr>
          <p:cNvSpPr/>
          <p:nvPr/>
        </p:nvSpPr>
        <p:spPr>
          <a:xfrm>
            <a:off x="1641312" y="1664691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Mem</a:t>
            </a: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722F1799-BAE2-C2E5-8F91-F8E146AD43A6}"/>
              </a:ext>
            </a:extLst>
          </p:cNvPr>
          <p:cNvSpPr/>
          <p:nvPr/>
        </p:nvSpPr>
        <p:spPr>
          <a:xfrm>
            <a:off x="5336193" y="1663399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 MEM</a:t>
            </a:r>
          </a:p>
        </p:txBody>
      </p:sp>
      <p:cxnSp>
        <p:nvCxnSpPr>
          <p:cNvPr id="49" name="直線單箭頭接點 48">
            <a:extLst>
              <a:ext uri="{FF2B5EF4-FFF2-40B4-BE49-F238E27FC236}">
                <a16:creationId xmlns:a16="http://schemas.microsoft.com/office/drawing/2014/main" id="{8643995D-70A0-D6F8-3ACC-91E4148E2A9E}"/>
              </a:ext>
            </a:extLst>
          </p:cNvPr>
          <p:cNvCxnSpPr>
            <a:cxnSpLocks/>
            <a:stCxn id="46" idx="1"/>
            <a:endCxn id="41" idx="3"/>
          </p:cNvCxnSpPr>
          <p:nvPr/>
        </p:nvCxnSpPr>
        <p:spPr>
          <a:xfrm flipH="1">
            <a:off x="5001786" y="2071261"/>
            <a:ext cx="334407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C0F661C1-D853-0D7F-A4BC-4603DF149DE7}"/>
              </a:ext>
            </a:extLst>
          </p:cNvPr>
          <p:cNvCxnSpPr>
            <a:cxnSpLocks/>
            <a:stCxn id="45" idx="3"/>
            <a:endCxn id="41" idx="1"/>
          </p:cNvCxnSpPr>
          <p:nvPr/>
        </p:nvCxnSpPr>
        <p:spPr>
          <a:xfrm flipV="1">
            <a:off x="3160926" y="2071261"/>
            <a:ext cx="321246" cy="129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74CF7F-DB71-4E45-D76D-726B17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Block Design</a:t>
            </a:r>
            <a:endParaRPr lang="en-US" dirty="0"/>
          </a:p>
        </p:txBody>
      </p:sp>
      <p:pic>
        <p:nvPicPr>
          <p:cNvPr id="5" name="圖片 4" descr="一張含有 文字, 圖表, 方案, 工程製圖 的圖片&#10;&#10;AI 產生的內容可能不正確。">
            <a:extLst>
              <a:ext uri="{FF2B5EF4-FFF2-40B4-BE49-F238E27FC236}">
                <a16:creationId xmlns:a16="http://schemas.microsoft.com/office/drawing/2014/main" id="{4726C9AF-84B0-D6C1-167F-B04F140C2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060" y="1610450"/>
            <a:ext cx="9155880" cy="524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70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1CBEE-344E-4473-44B9-BC4555CCD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C8B1B4-C4CF-32E2-281A-8D71EAB2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Memory-Mapped I/O vs SFR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AF33343-238B-E602-E1A4-D78BF8167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Memory-Mapped I/O (MMIO):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+mn-lt"/>
              </a:rPr>
              <a:t>Peripherals are mapped into the memory address space </a:t>
            </a:r>
          </a:p>
          <a:p>
            <a:pPr lvl="1"/>
            <a:r>
              <a:rPr lang="en-US" dirty="0">
                <a:latin typeface="+mn-lt"/>
              </a:rPr>
              <a:t>Accessed using normal load/store instructions </a:t>
            </a:r>
          </a:p>
          <a:p>
            <a:pPr lvl="1"/>
            <a:r>
              <a:rPr lang="en-US" dirty="0">
                <a:latin typeface="+mn-lt"/>
              </a:rPr>
              <a:t>Easy to integrate and extend (add new devices by assigning new addresses) 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SFR (Special Function Registers) in traditional MCUs (e.g., PIC): 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+mn-lt"/>
              </a:rPr>
              <a:t>Peripheral control uses dedicated special registers</a:t>
            </a:r>
            <a:r>
              <a:rPr lang="en-US" dirty="0">
                <a:latin typeface="+mn-lt"/>
              </a:rPr>
              <a:t> </a:t>
            </a:r>
          </a:p>
          <a:p>
            <a:pPr lvl="1"/>
            <a:r>
              <a:rPr lang="en-US" dirty="0">
                <a:latin typeface="+mn-lt"/>
              </a:rPr>
              <a:t>Often requires bank selection / bit-level control </a:t>
            </a:r>
          </a:p>
          <a:p>
            <a:pPr lvl="1"/>
            <a:r>
              <a:rPr lang="en-US" dirty="0">
                <a:latin typeface="+mn-lt"/>
              </a:rPr>
              <a:t>Less flexible when scaling to more peripherals</a:t>
            </a:r>
          </a:p>
        </p:txBody>
      </p:sp>
    </p:spTree>
    <p:extLst>
      <p:ext uri="{BB962C8B-B14F-4D97-AF65-F5344CB8AC3E}">
        <p14:creationId xmlns:p14="http://schemas.microsoft.com/office/powerpoint/2010/main" val="280305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F8FC-AC31-F14C-923A-D4FD27E2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E529A1-F6B5-1027-60D5-D469450D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Map in our microcontroller</a:t>
            </a:r>
            <a:endParaRPr lang="en-US" dirty="0"/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513BB578-0650-34D2-E526-590118AAA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43" y="1497870"/>
            <a:ext cx="6167183" cy="2620219"/>
          </a:xfrm>
          <a:prstGeom prst="rect">
            <a:avLst/>
          </a:prstGeom>
        </p:spPr>
      </p:pic>
      <p:pic>
        <p:nvPicPr>
          <p:cNvPr id="7" name="圖片 6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280F21C6-B7AC-57AC-EF02-C611C0A53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43" y="4545182"/>
            <a:ext cx="6167183" cy="2135632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35B3E4E3-5FA1-3D2E-3544-CD4B5B8E9451}"/>
              </a:ext>
            </a:extLst>
          </p:cNvPr>
          <p:cNvSpPr txBox="1"/>
          <p:nvPr/>
        </p:nvSpPr>
        <p:spPr>
          <a:xfrm>
            <a:off x="7584914" y="1980103"/>
            <a:ext cx="44038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Each mapped IP provides its own datasheet / product guide.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document specifies the internal register map (offsets from the base address) and explains how to use each register for configuration and I/O control.</a:t>
            </a:r>
          </a:p>
        </p:txBody>
      </p:sp>
    </p:spTree>
    <p:extLst>
      <p:ext uri="{BB962C8B-B14F-4D97-AF65-F5344CB8AC3E}">
        <p14:creationId xmlns:p14="http://schemas.microsoft.com/office/powerpoint/2010/main" val="8722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C53BA-0347-8F50-15D6-88BE3441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Memory Architecture</a:t>
            </a:r>
            <a:endParaRPr 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F350DC4-8026-9407-2F1A-E3B953362D6B}"/>
              </a:ext>
            </a:extLst>
          </p:cNvPr>
          <p:cNvSpPr/>
          <p:nvPr/>
        </p:nvSpPr>
        <p:spPr>
          <a:xfrm>
            <a:off x="2856860" y="3758899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MicroBlaze V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22D6E42-D5B4-C1CE-0F5E-E0D8B7356169}"/>
              </a:ext>
            </a:extLst>
          </p:cNvPr>
          <p:cNvSpPr/>
          <p:nvPr/>
        </p:nvSpPr>
        <p:spPr>
          <a:xfrm>
            <a:off x="2856860" y="2613276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Local Memory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Bus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DE573203-FAB2-95EA-1B41-123E1D478F49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3616667" y="3429000"/>
            <a:ext cx="0" cy="329899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50660E9-2AEF-E8C9-5041-275F8C5A1107}"/>
              </a:ext>
            </a:extLst>
          </p:cNvPr>
          <p:cNvSpPr/>
          <p:nvPr/>
        </p:nvSpPr>
        <p:spPr>
          <a:xfrm>
            <a:off x="1016000" y="2614568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Mem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B765E34-1CE3-4873-6F22-7BF896F8975C}"/>
              </a:ext>
            </a:extLst>
          </p:cNvPr>
          <p:cNvSpPr/>
          <p:nvPr/>
        </p:nvSpPr>
        <p:spPr>
          <a:xfrm>
            <a:off x="4710881" y="2613276"/>
            <a:ext cx="1519614" cy="815724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Inst MEM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33D6BB59-DA8A-9673-9FD1-E38F8DE94333}"/>
              </a:ext>
            </a:extLst>
          </p:cNvPr>
          <p:cNvCxnSpPr>
            <a:cxnSpLocks/>
            <a:stCxn id="8" idx="1"/>
            <a:endCxn id="5" idx="3"/>
          </p:cNvCxnSpPr>
          <p:nvPr/>
        </p:nvCxnSpPr>
        <p:spPr>
          <a:xfrm flipH="1">
            <a:off x="4376474" y="3021138"/>
            <a:ext cx="334407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991BE79-8494-CF19-C8E5-8AF073DCE160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2535614" y="3021138"/>
            <a:ext cx="321246" cy="1292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D73E57D-C678-8B30-8553-F789737F4B45}"/>
              </a:ext>
            </a:extLst>
          </p:cNvPr>
          <p:cNvSpPr txBox="1"/>
          <p:nvPr/>
        </p:nvSpPr>
        <p:spPr>
          <a:xfrm>
            <a:off x="930166" y="1650947"/>
            <a:ext cx="75336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CPU internal (MicroBlaze core): </a:t>
            </a:r>
          </a:p>
          <a:p>
            <a:r>
              <a:rPr lang="en-US" dirty="0"/>
              <a:t>MicroBlaze uses a </a:t>
            </a:r>
            <a:r>
              <a:rPr lang="en-US" dirty="0">
                <a:solidFill>
                  <a:srgbClr val="FF0000"/>
                </a:solidFill>
              </a:rPr>
              <a:t>Harvard-style internal structure</a:t>
            </a:r>
            <a:r>
              <a:rPr lang="en-US" dirty="0"/>
              <a:t>, with separate instruction and data paths.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01B0617-68DD-63B0-76C5-A0C78A51AF59}"/>
              </a:ext>
            </a:extLst>
          </p:cNvPr>
          <p:cNvSpPr txBox="1"/>
          <p:nvPr/>
        </p:nvSpPr>
        <p:spPr>
          <a:xfrm>
            <a:off x="930166" y="4899276"/>
            <a:ext cx="753364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SOC Level: </a:t>
            </a:r>
          </a:p>
          <a:p>
            <a:r>
              <a:rPr lang="en-US" dirty="0"/>
              <a:t>The overall system looks more like a </a:t>
            </a:r>
            <a:r>
              <a:rPr lang="en-US" b="1" dirty="0">
                <a:solidFill>
                  <a:srgbClr val="FF0000"/>
                </a:solidFill>
              </a:rPr>
              <a:t>von Neumann model</a:t>
            </a:r>
            <a:r>
              <a:rPr lang="en-US" dirty="0"/>
              <a:t>, because both instructions and data are placed in a </a:t>
            </a:r>
            <a:r>
              <a:rPr lang="en-US" b="1" dirty="0"/>
              <a:t>single unified memory address space</a:t>
            </a:r>
            <a:r>
              <a:rPr lang="en-US" dirty="0"/>
              <a:t> when accessing external memory and memory-mapped peripherals.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89FBFB60-B19E-DC97-155C-D1E6AE1DCDB1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8463806" y="1958724"/>
            <a:ext cx="1007855" cy="195393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D05A370A-46BC-5E5D-C664-DBD9933B19B2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8463806" y="3912662"/>
            <a:ext cx="1007855" cy="15098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B145801-A86F-B23C-4F5F-3F715DC2F7E7}"/>
              </a:ext>
            </a:extLst>
          </p:cNvPr>
          <p:cNvSpPr txBox="1"/>
          <p:nvPr/>
        </p:nvSpPr>
        <p:spPr>
          <a:xfrm>
            <a:off x="9471661" y="3497163"/>
            <a:ext cx="27203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Modified Harvard Architecture</a:t>
            </a:r>
          </a:p>
        </p:txBody>
      </p:sp>
    </p:spTree>
    <p:extLst>
      <p:ext uri="{BB962C8B-B14F-4D97-AF65-F5344CB8AC3E}">
        <p14:creationId xmlns:p14="http://schemas.microsoft.com/office/powerpoint/2010/main" val="1051629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883E-C9AB-0CAE-0BBB-12C92804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BEBA76-2919-629E-6585-B915CDBC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AXI Mapping</a:t>
            </a:r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8CDDF9-280C-6BDC-C755-4CEC71302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482725"/>
            <a:ext cx="5761037" cy="5113338"/>
          </a:xfrm>
        </p:spPr>
        <p:txBody>
          <a:bodyPr/>
          <a:lstStyle/>
          <a:p>
            <a:r>
              <a:rPr lang="en-US" dirty="0"/>
              <a:t>Although each peripheral is mapped to a memory address range, </a:t>
            </a:r>
            <a:r>
              <a:rPr lang="en-US" dirty="0">
                <a:solidFill>
                  <a:srgbClr val="FF0000"/>
                </a:solidFill>
              </a:rPr>
              <a:t>this address region does not correspond to physical RAM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Instead, AXI address decoding and </a:t>
            </a:r>
            <a:r>
              <a:rPr lang="en-US" dirty="0">
                <a:solidFill>
                  <a:srgbClr val="FF0000"/>
                </a:solidFill>
              </a:rPr>
              <a:t>routing logic forwards</a:t>
            </a:r>
            <a:r>
              <a:rPr lang="en-US" dirty="0"/>
              <a:t> these transactions to the target peripheral’s register interface (MMIO).</a:t>
            </a:r>
          </a:p>
        </p:txBody>
      </p:sp>
      <p:pic>
        <p:nvPicPr>
          <p:cNvPr id="6" name="圖片 5" descr="一張含有 文字, 圖表, 螢幕擷取畫面, 平行 的圖片&#10;&#10;AI 產生的內容可能不正確。">
            <a:extLst>
              <a:ext uri="{FF2B5EF4-FFF2-40B4-BE49-F238E27FC236}">
                <a16:creationId xmlns:a16="http://schemas.microsoft.com/office/drawing/2014/main" id="{24751282-FBD7-F506-7998-893B5B9A1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6172"/>
            <a:ext cx="5640959" cy="38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45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194C82-62BA-0BC1-9167-79380F3DF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Resource Utilization</a:t>
            </a:r>
            <a:endParaRPr lang="en-US" dirty="0"/>
          </a:p>
        </p:txBody>
      </p:sp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C836F03C-B0D9-A147-0FD8-5DC1AB8E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727" y="1569477"/>
            <a:ext cx="6462546" cy="199602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3E0C1AC-5527-2C31-7EC4-3D6963AA5160}"/>
              </a:ext>
            </a:extLst>
          </p:cNvPr>
          <p:cNvSpPr/>
          <p:nvPr/>
        </p:nvSpPr>
        <p:spPr>
          <a:xfrm>
            <a:off x="4532529" y="1874849"/>
            <a:ext cx="1563471" cy="1480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D308FF7-9B57-3D8F-A2A4-2265A0EF0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602" y="3660365"/>
            <a:ext cx="7348092" cy="3108808"/>
          </a:xfrm>
          <a:prstGeom prst="rect">
            <a:avLst/>
          </a:prstGeom>
        </p:spPr>
      </p:pic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03728AB1-E288-BD56-8040-8097E0F90C27}"/>
              </a:ext>
            </a:extLst>
          </p:cNvPr>
          <p:cNvCxnSpPr/>
          <p:nvPr/>
        </p:nvCxnSpPr>
        <p:spPr>
          <a:xfrm>
            <a:off x="9663694" y="4611471"/>
            <a:ext cx="44733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4BA988E-D538-91FA-D278-A2A221A8AF85}"/>
              </a:ext>
            </a:extLst>
          </p:cNvPr>
          <p:cNvSpPr txBox="1"/>
          <p:nvPr/>
        </p:nvSpPr>
        <p:spPr>
          <a:xfrm>
            <a:off x="10216282" y="4457582"/>
            <a:ext cx="10454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=1.6</a:t>
            </a:r>
            <a:r>
              <a:rPr lang="zh-TW" altLang="en-US" dirty="0"/>
              <a:t> * </a:t>
            </a:r>
            <a:r>
              <a:rPr lang="en-US" altLang="zh-TW" dirty="0"/>
              <a:t>LUT</a:t>
            </a:r>
            <a:endParaRPr 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8C24A1-EADD-2AF4-EBEF-D99F2F46509E}"/>
              </a:ext>
            </a:extLst>
          </p:cNvPr>
          <p:cNvSpPr/>
          <p:nvPr/>
        </p:nvSpPr>
        <p:spPr>
          <a:xfrm>
            <a:off x="5795586" y="4400961"/>
            <a:ext cx="815723" cy="23550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BD4E554B-2014-3D4A-E9A9-4F4E9F2DB071}"/>
              </a:ext>
            </a:extLst>
          </p:cNvPr>
          <p:cNvCxnSpPr>
            <a:stCxn id="9" idx="2"/>
            <a:endCxn id="17" idx="0"/>
          </p:cNvCxnSpPr>
          <p:nvPr/>
        </p:nvCxnSpPr>
        <p:spPr>
          <a:xfrm>
            <a:off x="5314265" y="3354993"/>
            <a:ext cx="889183" cy="104596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AF605BBD-BA73-3614-F1A3-A463E4892238}"/>
              </a:ext>
            </a:extLst>
          </p:cNvPr>
          <p:cNvSpPr/>
          <p:nvPr/>
        </p:nvSpPr>
        <p:spPr>
          <a:xfrm>
            <a:off x="7348093" y="4400961"/>
            <a:ext cx="763096" cy="235507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5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743A8D-70FE-8709-5A06-C8BE30BF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 Chain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41F8A7-9E2A-4AEE-59B6-2D104C3E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Vivado for FPGA Design (RTL → Bitstream) </a:t>
            </a:r>
          </a:p>
          <a:p>
            <a:r>
              <a:rPr lang="en-US" altLang="zh-TW" dirty="0"/>
              <a:t>Vitis for Software Development (C/C++ → ELF)</a:t>
            </a:r>
            <a:endParaRPr lang="en-US" dirty="0"/>
          </a:p>
        </p:txBody>
      </p:sp>
      <p:sp>
        <p:nvSpPr>
          <p:cNvPr id="7" name="AutoShape 3" descr="graphics49">
            <a:extLst>
              <a:ext uri="{FF2B5EF4-FFF2-40B4-BE49-F238E27FC236}">
                <a16:creationId xmlns:a16="http://schemas.microsoft.com/office/drawing/2014/main" id="{8B57FB05-CA69-40C7-CB75-EAA63E24A9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5" name="Picture 9" descr="Vitis Embedded (SDK)">
            <a:extLst>
              <a:ext uri="{FF2B5EF4-FFF2-40B4-BE49-F238E27FC236}">
                <a16:creationId xmlns:a16="http://schemas.microsoft.com/office/drawing/2014/main" id="{20D6E5D5-87EA-BE14-A256-716B65256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166047"/>
            <a:ext cx="5108866" cy="287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AMD Vivado Design Suite: Redefining FPGA and SoC Development - Microchip USA">
            <a:extLst>
              <a:ext uri="{FF2B5EF4-FFF2-40B4-BE49-F238E27FC236}">
                <a16:creationId xmlns:a16="http://schemas.microsoft.com/office/drawing/2014/main" id="{1A118EBA-5F54-B98D-69A1-5218E1BAF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3166048"/>
            <a:ext cx="4632813" cy="2873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688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7155-3F5D-3FA3-5B5D-2C0E7259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6FD501-2F4D-3FEB-D723-211C520E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Design Flow</a:t>
            </a:r>
            <a:endParaRPr lang="en-US" dirty="0"/>
          </a:p>
        </p:txBody>
      </p:sp>
      <p:pic>
        <p:nvPicPr>
          <p:cNvPr id="6" name="圖片 5" descr="一張含有 文字, 螢幕擷取畫面, 字型, 圖表 的圖片&#10;&#10;AI 產生的內容可能不正確。">
            <a:extLst>
              <a:ext uri="{FF2B5EF4-FFF2-40B4-BE49-F238E27FC236}">
                <a16:creationId xmlns:a16="http://schemas.microsoft.com/office/drawing/2014/main" id="{F04003B6-0C38-0593-C515-E59E7ED7D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08" y="2870909"/>
            <a:ext cx="5838092" cy="2652032"/>
          </a:xfrm>
          <a:prstGeom prst="rect">
            <a:avLst/>
          </a:prstGeom>
        </p:spPr>
      </p:pic>
      <p:sp>
        <p:nvSpPr>
          <p:cNvPr id="7" name="AutoShape 3" descr="graphics49">
            <a:extLst>
              <a:ext uri="{FF2B5EF4-FFF2-40B4-BE49-F238E27FC236}">
                <a16:creationId xmlns:a16="http://schemas.microsoft.com/office/drawing/2014/main" id="{C86D24E0-3404-2EF6-4D25-6F004CEA83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圖片 7" descr="一張含有 白色, 設計 的圖片&#10;&#10;AI 產生的內容可能不正確。">
            <a:extLst>
              <a:ext uri="{FF2B5EF4-FFF2-40B4-BE49-F238E27FC236}">
                <a16:creationId xmlns:a16="http://schemas.microsoft.com/office/drawing/2014/main" id="{182AD303-86EF-E851-F4F6-034602249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945" y="3150329"/>
            <a:ext cx="328712" cy="184079"/>
          </a:xfrm>
          <a:prstGeom prst="rect">
            <a:avLst/>
          </a:prstGeom>
        </p:spPr>
      </p:pic>
      <p:pic>
        <p:nvPicPr>
          <p:cNvPr id="11" name="圖片 10" descr="一張含有 文字, 圖表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8BE1C73-03FA-6DBA-CB0D-D1B2F1480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174" y="1847642"/>
            <a:ext cx="5450518" cy="423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41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B57F90-57AA-DCFB-CA91-14027828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Program to FPGA and Debug</a:t>
            </a:r>
            <a:r>
              <a:rPr lang="zh-TW" altLang="en-US" dirty="0"/>
              <a:t> </a:t>
            </a:r>
            <a:r>
              <a:rPr lang="en-US" altLang="zh-TW" dirty="0"/>
              <a:t>- </a:t>
            </a:r>
            <a:r>
              <a:rPr lang="en-US" dirty="0"/>
              <a:t>XSDB (via JTAG)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5ADB10-6475-113D-7CDB-6C4801BAF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1530053"/>
            <a:ext cx="11571829" cy="5066010"/>
          </a:xfrm>
        </p:spPr>
        <p:txBody>
          <a:bodyPr/>
          <a:lstStyle/>
          <a:p>
            <a:r>
              <a:rPr lang="en-US" sz="2000" dirty="0"/>
              <a:t>XSDB (Xilinx System Debugger) communicates with the target board through </a:t>
            </a:r>
            <a:r>
              <a:rPr lang="en-US" sz="2000" dirty="0">
                <a:solidFill>
                  <a:srgbClr val="FF0000"/>
                </a:solidFill>
              </a:rPr>
              <a:t>JTAG (IEEE 1149.1)</a:t>
            </a:r>
            <a:r>
              <a:rPr lang="en-US" sz="2000" dirty="0">
                <a:solidFill>
                  <a:schemeClr val="tx1"/>
                </a:solidFill>
              </a:rPr>
              <a:t>,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a standard interface for </a:t>
            </a:r>
            <a:r>
              <a:rPr lang="en-US" sz="2000" dirty="0">
                <a:solidFill>
                  <a:srgbClr val="FF0000"/>
                </a:solidFill>
              </a:rPr>
              <a:t>device programming and hardware debugging</a:t>
            </a:r>
            <a:r>
              <a:rPr lang="en-US" sz="2000" dirty="0"/>
              <a:t>.</a:t>
            </a:r>
          </a:p>
          <a:p>
            <a:r>
              <a:rPr lang="en-US" sz="2000" dirty="0"/>
              <a:t>It uses the MicroBlaze Debug Module (MDM) to </a:t>
            </a:r>
            <a:r>
              <a:rPr lang="en-US" sz="2000" dirty="0">
                <a:solidFill>
                  <a:srgbClr val="FF0000"/>
                </a:solidFill>
              </a:rPr>
              <a:t>halt/reset the CPU and access system memory</a:t>
            </a:r>
            <a:r>
              <a:rPr lang="en-US" sz="2000" dirty="0"/>
              <a:t>. </a:t>
            </a:r>
          </a:p>
          <a:p>
            <a:r>
              <a:rPr lang="en-US" sz="2000" dirty="0"/>
              <a:t>XSDB then downloads the .elf sections (e.g. .text, .data) into on-chip BRAM according to the ELF memory map. </a:t>
            </a:r>
          </a:p>
          <a:p>
            <a:r>
              <a:rPr lang="en-US" sz="2000" dirty="0"/>
              <a:t>Finally, XSDB sets the program entry point (PC) and starts CPU execution.</a:t>
            </a:r>
          </a:p>
        </p:txBody>
      </p:sp>
      <p:pic>
        <p:nvPicPr>
          <p:cNvPr id="6149" name="Picture 5" descr="Debugging Using the Vitis Software Platform — Embedded Design Tutorials  2022.1 documentation">
            <a:extLst>
              <a:ext uri="{FF2B5EF4-FFF2-40B4-BE49-F238E27FC236}">
                <a16:creationId xmlns:a16="http://schemas.microsoft.com/office/drawing/2014/main" id="{2B8E9613-9183-E5B2-42C3-63F5D1F19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1257" y="3512820"/>
            <a:ext cx="3059100" cy="2896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 descr="一張含有 文字, 螢幕擷取畫面, 字型, 軟體 的圖片&#10;&#10;AI 產生的內容可能不正確。">
            <a:extLst>
              <a:ext uri="{FF2B5EF4-FFF2-40B4-BE49-F238E27FC236}">
                <a16:creationId xmlns:a16="http://schemas.microsoft.com/office/drawing/2014/main" id="{E2222309-D058-0D38-A91A-C2282B127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060" y="4007147"/>
            <a:ext cx="39624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316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607326-7200-DDAB-A652-E55CC5327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Template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2A35B91-81EA-A8C7-5A5A-B2613E184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Dhystone</a:t>
            </a:r>
          </a:p>
          <a:p>
            <a:r>
              <a:rPr lang="en-US" altLang="zh-TW" dirty="0"/>
              <a:t>Peripheral Test</a:t>
            </a:r>
          </a:p>
          <a:p>
            <a:r>
              <a:rPr lang="en-US" dirty="0"/>
              <a:t>UART </a:t>
            </a:r>
            <a:r>
              <a:rPr lang="en-US" altLang="zh-TW" dirty="0"/>
              <a:t>Test</a:t>
            </a:r>
          </a:p>
          <a:p>
            <a:r>
              <a:rPr lang="en-US" dirty="0"/>
              <a:t>Monte Carlo</a:t>
            </a:r>
          </a:p>
          <a:p>
            <a:r>
              <a:rPr lang="en-US" dirty="0"/>
              <a:t>Interrupt Service Routine</a:t>
            </a:r>
          </a:p>
        </p:txBody>
      </p:sp>
      <p:pic>
        <p:nvPicPr>
          <p:cNvPr id="5" name="圖片 4" descr="一張含有 文字, 字型, 螢幕擷取畫面 的圖片&#10;&#10;AI 產生的內容可能不正確。">
            <a:extLst>
              <a:ext uri="{FF2B5EF4-FFF2-40B4-BE49-F238E27FC236}">
                <a16:creationId xmlns:a16="http://schemas.microsoft.com/office/drawing/2014/main" id="{0BD35CC4-6307-C9FB-76A7-A026D1E87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60" y="4214368"/>
            <a:ext cx="6020640" cy="129558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1D32883-8C01-2ACA-85B0-1EB216F7BF02}"/>
              </a:ext>
            </a:extLst>
          </p:cNvPr>
          <p:cNvSpPr txBox="1"/>
          <p:nvPr/>
        </p:nvSpPr>
        <p:spPr>
          <a:xfrm>
            <a:off x="6803649" y="4214368"/>
            <a:ext cx="51470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MicroBlaze V</a:t>
            </a:r>
            <a:r>
              <a:rPr lang="en-US" dirty="0"/>
              <a:t> (single-core) measured </a:t>
            </a:r>
            <a:r>
              <a:rPr lang="en-US" b="1" dirty="0"/>
              <a:t>0.522 DMIPS/MHz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Cortex-A9</a:t>
            </a:r>
            <a:r>
              <a:rPr lang="en-US" dirty="0"/>
              <a:t> (dual-core, hard-core) is commonly reported around </a:t>
            </a:r>
            <a:r>
              <a:rPr lang="en-US" b="1" dirty="0"/>
              <a:t>~2.5 DMIPS/MHz per core</a:t>
            </a:r>
            <a:r>
              <a:rPr lang="en-US" dirty="0"/>
              <a:t>, but in some practical cases it can drop to </a:t>
            </a:r>
            <a:r>
              <a:rPr lang="en-US" b="1" dirty="0"/>
              <a:t>~1.0 DMIPS/MHz </a:t>
            </a:r>
            <a:r>
              <a:rPr lang="en-US" dirty="0"/>
              <a:t>depending on memory/cache and system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786718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AE03-C579-AA4B-69B3-D1D72D14A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80FA3C-3B24-9512-E9A2-874B87F4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Ripes</a:t>
            </a:r>
            <a:endParaRPr lang="en-US" dirty="0"/>
          </a:p>
        </p:txBody>
      </p:sp>
      <p:pic>
        <p:nvPicPr>
          <p:cNvPr id="7" name="圖片 6" descr="一張含有 文字, 螢幕擷取畫面, 軟體, 陳列 的圖片&#10;&#10;AI 產生的內容可能不正確。">
            <a:extLst>
              <a:ext uri="{FF2B5EF4-FFF2-40B4-BE49-F238E27FC236}">
                <a16:creationId xmlns:a16="http://schemas.microsoft.com/office/drawing/2014/main" id="{5CBEF84A-A771-0317-6BEE-0A132B0D9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26" y="1542473"/>
            <a:ext cx="9406348" cy="53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420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B0E90-5C34-26F7-4C6D-3CEB9A022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Ripes</a:t>
            </a:r>
            <a:endParaRPr lang="en-US" dirty="0"/>
          </a:p>
        </p:txBody>
      </p:sp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76A925FA-6E34-B744-4808-C88EE86A1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54" y="1563476"/>
            <a:ext cx="9446491" cy="529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6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FD30C-FD58-E363-03F0-4CFB73889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to Address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5B9B60-FBFA-24BD-3C82-21CEE3678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85800" indent="-571500">
              <a:buFont typeface="+mj-lt"/>
              <a:buAutoNum type="romanLcPeriod"/>
            </a:pPr>
            <a:r>
              <a:rPr lang="en-US" sz="2400" dirty="0"/>
              <a:t>Full Assembly Boot Chain in Vitis (How to Implement)</a:t>
            </a:r>
          </a:p>
          <a:p>
            <a:pPr marL="1143000" lvl="1" indent="-571500">
              <a:buFont typeface="+mj-lt"/>
              <a:buAutoNum type="alphaLcPeriod"/>
            </a:pPr>
            <a:r>
              <a:rPr lang="en-US" sz="2000" dirty="0" err="1"/>
              <a:t>start.S</a:t>
            </a:r>
            <a:r>
              <a:rPr lang="en-US" sz="2000" dirty="0"/>
              <a:t> : reset entry + stack + jump </a:t>
            </a:r>
          </a:p>
          <a:p>
            <a:pPr marL="1143000" lvl="1" indent="-571500">
              <a:buFont typeface="+mj-lt"/>
              <a:buAutoNum type="alphaLcPeriod"/>
            </a:pPr>
            <a:r>
              <a:rPr lang="en-US" sz="2000" dirty="0" err="1"/>
              <a:t>main.S</a:t>
            </a:r>
            <a:r>
              <a:rPr lang="en-US" sz="2000" dirty="0"/>
              <a:t> : your main logic (or C main if mixed mode) </a:t>
            </a:r>
          </a:p>
          <a:p>
            <a:pPr marL="1143000" lvl="1" indent="-571500">
              <a:buFont typeface="+mj-lt"/>
              <a:buAutoNum type="alphaLcPeriod"/>
            </a:pPr>
            <a:r>
              <a:rPr lang="en-US" sz="2000" dirty="0" err="1"/>
              <a:t>lscript.ld</a:t>
            </a:r>
            <a:r>
              <a:rPr lang="en-US" sz="2000" dirty="0"/>
              <a:t> : defines memory regions &amp; entry address</a:t>
            </a:r>
          </a:p>
          <a:p>
            <a:pPr marL="1143000" lvl="1" indent="-571500">
              <a:buFont typeface="+mj-lt"/>
              <a:buAutoNum type="alphaLcPeriod"/>
            </a:pPr>
            <a:endParaRPr lang="en-US" sz="2000" dirty="0"/>
          </a:p>
          <a:p>
            <a:pPr marL="685800" indent="-571500">
              <a:buFont typeface="+mj-lt"/>
              <a:buAutoNum type="romanLcPeriod"/>
            </a:pPr>
            <a:r>
              <a:rPr lang="en-US" sz="2400" dirty="0"/>
              <a:t>FPGA Board Selection</a:t>
            </a:r>
          </a:p>
          <a:p>
            <a:pPr marL="1143000" lvl="1" indent="-571500">
              <a:buFont typeface="+mj-lt"/>
              <a:buAutoNum type="alphaLcPeriod"/>
            </a:pPr>
            <a:r>
              <a:rPr lang="en-US" sz="2000" dirty="0"/>
              <a:t>Spartan-series without DDR FPGA boards</a:t>
            </a:r>
          </a:p>
          <a:p>
            <a:pPr marL="1143000" lvl="1" indent="-571500">
              <a:buFont typeface="+mj-lt"/>
              <a:buAutoNum type="alphaLcPeriod"/>
            </a:pPr>
            <a:r>
              <a:rPr lang="en-US" sz="2000" dirty="0"/>
              <a:t>Xilinx part number </a:t>
            </a:r>
            <a:r>
              <a:rPr lang="en-US" sz="2000"/>
              <a:t>≤ </a:t>
            </a:r>
            <a:r>
              <a:rPr lang="en-US" altLang="zh-TW" sz="2000"/>
              <a:t>3</a:t>
            </a:r>
            <a:r>
              <a:rPr lang="en-US" sz="2000"/>
              <a:t>5</a:t>
            </a:r>
            <a:endParaRPr lang="en-US" sz="20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5C33879-A186-52F6-3FEB-B1DBEA97D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394" y="1865579"/>
            <a:ext cx="2844665" cy="209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8BA76300-70CA-DB33-D1C5-61C5B8BB1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5394" y="4223086"/>
            <a:ext cx="2634914" cy="2634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10C9374-202E-4897-B10D-8D80EF1E7C6D}"/>
              </a:ext>
            </a:extLst>
          </p:cNvPr>
          <p:cNvSpPr txBox="1"/>
          <p:nvPr/>
        </p:nvSpPr>
        <p:spPr>
          <a:xfrm>
            <a:off x="9411893" y="3973373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Cmod S7</a:t>
            </a:r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39A84B1-7523-67B2-CD94-E3390726DF22}"/>
              </a:ext>
            </a:extLst>
          </p:cNvPr>
          <p:cNvSpPr txBox="1"/>
          <p:nvPr/>
        </p:nvSpPr>
        <p:spPr>
          <a:xfrm>
            <a:off x="9411893" y="6477295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Cmod A7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049979"/>
      </p:ext>
    </p:extLst>
  </p:cSld>
  <p:clrMapOvr>
    <a:masterClrMapping/>
  </p:clrMapOvr>
</p:sld>
</file>

<file path=ppt/theme/theme1.xml><?xml version="1.0" encoding="utf-8"?>
<a:theme xmlns:a="http://schemas.openxmlformats.org/drawingml/2006/main" name="ncku__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665</Words>
  <Application>Microsoft Office PowerPoint</Application>
  <PresentationFormat>寬螢幕</PresentationFormat>
  <Paragraphs>106</Paragraphs>
  <Slides>17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ncku__</vt:lpstr>
      <vt:lpstr>PowerPoint 簡報</vt:lpstr>
      <vt:lpstr>Microcontroller Selection</vt:lpstr>
      <vt:lpstr>MicroBlaze V high-end Peripheral</vt:lpstr>
      <vt:lpstr>Our Microcontroller (temporary)</vt:lpstr>
      <vt:lpstr>Block Design</vt:lpstr>
      <vt:lpstr>Memory-Mapped I/O vs SFR</vt:lpstr>
      <vt:lpstr>Memory Map in our microcontroller</vt:lpstr>
      <vt:lpstr>Memory Architecture</vt:lpstr>
      <vt:lpstr>AXI Mapping</vt:lpstr>
      <vt:lpstr>Resource Utilization</vt:lpstr>
      <vt:lpstr>Tool Chain</vt:lpstr>
      <vt:lpstr>Design Flow</vt:lpstr>
      <vt:lpstr>Program to FPGA and Debug - XSDB (via JTAG)</vt:lpstr>
      <vt:lpstr>Software Template</vt:lpstr>
      <vt:lpstr>Ripes</vt:lpstr>
      <vt:lpstr>Ripes</vt:lpstr>
      <vt:lpstr>Issues to Address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使用者</dc:creator>
  <cp:lastModifiedBy>黃偉峰 HUANG, WEI-FENG</cp:lastModifiedBy>
  <cp:revision>10</cp:revision>
  <dcterms:created xsi:type="dcterms:W3CDTF">2018-11-07T14:30:45Z</dcterms:created>
  <dcterms:modified xsi:type="dcterms:W3CDTF">2026-01-21T04:37:17Z</dcterms:modified>
</cp:coreProperties>
</file>